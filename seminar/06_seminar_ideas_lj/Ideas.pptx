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03" r:id="rId1"/>
    <p:sldMasterId id="2147483704" r:id="rId2"/>
  </p:sldMasterIdLst>
  <p:notesMasterIdLst>
    <p:notesMasterId r:id="rId28"/>
  </p:notesMasterIdLst>
  <p:sldIdLst>
    <p:sldId id="256" r:id="rId3"/>
    <p:sldId id="305" r:id="rId4"/>
    <p:sldId id="337" r:id="rId5"/>
    <p:sldId id="333" r:id="rId6"/>
    <p:sldId id="307" r:id="rId7"/>
    <p:sldId id="334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4" r:id="rId24"/>
    <p:sldId id="353" r:id="rId25"/>
    <p:sldId id="355" r:id="rId26"/>
    <p:sldId id="356" r:id="rId27"/>
  </p:sldIdLst>
  <p:sldSz cx="10680700" cy="7556500"/>
  <p:notesSz cx="6858000" cy="9144000"/>
  <p:embeddedFontLst>
    <p:embeddedFont>
      <p:font typeface="Helvetica Neue" panose="02000503000000020004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961"/>
  </p:normalViewPr>
  <p:slideViewPr>
    <p:cSldViewPr snapToGrid="0" snapToObjects="1">
      <p:cViewPr varScale="1">
        <p:scale>
          <a:sx n="195" d="100"/>
          <a:sy n="195" d="100"/>
        </p:scale>
        <p:origin x="3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what we are doing on a daily basis.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say multimedia here, but we mainly work with videos (usually w/o sound). Such a limitation of context necessary because we are dealing with a difficult problem.</a:t>
            </a:r>
            <a:endParaRPr dirty="0"/>
          </a:p>
        </p:txBody>
      </p:sp>
      <p:sp>
        <p:nvSpPr>
          <p:cNvPr id="260" name="Google Shape;2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1335088" y="1236663"/>
            <a:ext cx="8010525" cy="2630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1335088" y="3968750"/>
            <a:ext cx="8010525" cy="182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28663" y="1884363"/>
            <a:ext cx="9212262" cy="314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728663" y="5056188"/>
            <a:ext cx="9212262" cy="165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735013" y="2011363"/>
            <a:ext cx="4529137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5416550" y="2011363"/>
            <a:ext cx="4529138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2262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35013" y="1852613"/>
            <a:ext cx="4519612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2"/>
          </p:nvPr>
        </p:nvSpPr>
        <p:spPr>
          <a:xfrm>
            <a:off x="735013" y="2760663"/>
            <a:ext cx="4519612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3"/>
          </p:nvPr>
        </p:nvSpPr>
        <p:spPr>
          <a:xfrm>
            <a:off x="5407025" y="1852613"/>
            <a:ext cx="454025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4"/>
          </p:nvPr>
        </p:nvSpPr>
        <p:spPr>
          <a:xfrm>
            <a:off x="5407025" y="2760663"/>
            <a:ext cx="4540250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735013" y="401638"/>
            <a:ext cx="9210675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 rot="5400000">
            <a:off x="2943226" y="-196849"/>
            <a:ext cx="4794250" cy="921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 rot="5400000">
            <a:off x="5592763" y="2452688"/>
            <a:ext cx="6403975" cy="230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 rot="5400000">
            <a:off x="911226" y="225425"/>
            <a:ext cx="6403975" cy="67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6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9085262" cy="453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735013" y="503238"/>
            <a:ext cx="3444875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>
            <a:spLocks noGrp="1"/>
          </p:cNvSpPr>
          <p:nvPr>
            <p:ph type="pic" idx="2"/>
          </p:nvPr>
        </p:nvSpPr>
        <p:spPr>
          <a:xfrm>
            <a:off x="4540250" y="1087438"/>
            <a:ext cx="5407025" cy="537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735013" y="2266950"/>
            <a:ext cx="3444875" cy="420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6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 rot="5400000">
            <a:off x="3074987" y="-88899"/>
            <a:ext cx="4538663" cy="908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title"/>
          </p:nvPr>
        </p:nvSpPr>
        <p:spPr>
          <a:xfrm rot="5400000">
            <a:off x="5726113" y="2562225"/>
            <a:ext cx="6051550" cy="227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body" idx="1"/>
          </p:nvPr>
        </p:nvSpPr>
        <p:spPr>
          <a:xfrm rot="5400000">
            <a:off x="1107282" y="365920"/>
            <a:ext cx="6051550" cy="666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01688" y="671513"/>
            <a:ext cx="9085262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801688" y="2184400"/>
            <a:ext cx="9085262" cy="453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–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l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9542463" y="6891338"/>
            <a:ext cx="344487" cy="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/>
          <p:nvPr/>
        </p:nvSpPr>
        <p:spPr>
          <a:xfrm>
            <a:off x="1905000" y="3657600"/>
            <a:ext cx="87757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Ideas for Subjective Experiments</a:t>
            </a:r>
            <a:endParaRPr lang="en-US" noProof="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u="sng" noProof="0" dirty="0"/>
            </a:br>
            <a:r>
              <a:rPr lang="en-US" sz="2400" noProof="0" dirty="0"/>
              <a:t>Lucjan Janowski</a:t>
            </a:r>
            <a:endParaRPr lang="en-US" sz="2400" b="0" i="0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1"/>
          <p:cNvSpPr/>
          <p:nvPr/>
        </p:nvSpPr>
        <p:spPr>
          <a:xfrm>
            <a:off x="1905000" y="6477000"/>
            <a:ext cx="26772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u="none" strike="noStrike" cap="none" dirty="0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63100" y="7162546"/>
            <a:ext cx="1117600" cy="393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7337-8805-6576-6BD8-339B77F2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Ideas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20024-9E44-9C6A-033A-B89EB7F47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395F7-A8B8-91DB-F1E3-108484BCF4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6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550E-9471-7FBB-52F2-39CD2843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DC9E-CEE3-F500-B29E-74FB04BC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F2C8D-21C8-2272-275C-997722541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Classic Experiments</a:t>
            </a:r>
          </a:p>
          <a:p>
            <a:r>
              <a:rPr lang="en-GB" dirty="0"/>
              <a:t>Interfaces </a:t>
            </a:r>
          </a:p>
          <a:p>
            <a:r>
              <a:rPr lang="en-GB" dirty="0"/>
              <a:t>Display Technology</a:t>
            </a:r>
          </a:p>
          <a:p>
            <a:r>
              <a:rPr lang="en-GB" dirty="0"/>
              <a:t>HDR/SDR</a:t>
            </a:r>
          </a:p>
          <a:p>
            <a:r>
              <a:rPr lang="en-GB" dirty="0"/>
              <a:t>Behaviour </a:t>
            </a:r>
          </a:p>
          <a:p>
            <a:r>
              <a:rPr lang="en-GB" dirty="0"/>
              <a:t>Interaction</a:t>
            </a:r>
          </a:p>
          <a:p>
            <a:r>
              <a:rPr lang="en-GB" dirty="0"/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E7446-3E6B-8183-532E-3E4BE794B6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8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48F1C-6B25-02F4-9557-19E926F1C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0B19-671C-ED31-5E27-D4AFF2D2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09202-35C3-8F98-DFC1-880F3B2DF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Classic Experiments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Interfaces 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Display Technology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HDR/SDR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Behaviour 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Interaction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D4F58-E49E-8FBB-F27C-5566AE2F3B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62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BE0E-D730-D068-ED25-6F89E603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Bitrate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D1C20-3EA2-DF40-9AF3-F2FAA55B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Bitrate influence for different sequences</a:t>
            </a:r>
          </a:p>
          <a:p>
            <a:r>
              <a:rPr lang="en-US" dirty="0"/>
              <a:t>Diverse sequences both E and h</a:t>
            </a:r>
          </a:p>
          <a:p>
            <a:r>
              <a:rPr lang="en-US" dirty="0"/>
              <a:t>Bitrate + resolution change taken from a reasonable source like YouTube</a:t>
            </a:r>
          </a:p>
          <a:p>
            <a:r>
              <a:rPr lang="en-US" dirty="0"/>
              <a:t>5 levels of compression </a:t>
            </a:r>
          </a:p>
          <a:p>
            <a:r>
              <a:rPr lang="en-US" dirty="0"/>
              <a:t>Goal, predict quality as function of E and h for given bitrate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1F34D-1DEA-BFF0-9C1F-B32E5D087E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53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7A28B-154C-A01A-A05D-77576A77B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2799-0D67-3BDB-C39F-EF7C5311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Codecs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EB8B0-EDC8-8F03-8F48-B0CBBEDFE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different bitrates for two different codecs for given resolution</a:t>
            </a:r>
          </a:p>
          <a:p>
            <a:r>
              <a:rPr lang="en-US" dirty="0"/>
              <a:t>The goal is to compare which codec is better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D951D-9E25-EC14-09B1-8FAD11B7D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7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F44E-E76B-9086-44FB-DB58251B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916A8-CE8B-26CF-315A-98CD94B5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Reference E, h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85FC7-0BFC-496E-B77F-A4B8FF6EA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as many source sequences as we have the test sequences </a:t>
            </a:r>
          </a:p>
          <a:p>
            <a:r>
              <a:rPr lang="en-US" dirty="0"/>
              <a:t>Each sequence is randomly selected for specific compression condition</a:t>
            </a:r>
          </a:p>
          <a:p>
            <a:r>
              <a:rPr lang="en-US" dirty="0"/>
              <a:t>The goal is to make more robust quality as function of E and 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8C70A-F562-E4C5-0E61-3DDBC62FFA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6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7FF2-7726-0152-151A-E2B6A5F8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B302-0882-DCF2-2BBE-2C7BBFFF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Scale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E613B-35DE-5E1F-A4E3-72C1EB679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two experiments with the same sequences. </a:t>
            </a:r>
          </a:p>
          <a:p>
            <a:r>
              <a:rPr lang="en-US" dirty="0"/>
              <a:t>Distortions are simple like compression for different sequences </a:t>
            </a:r>
          </a:p>
          <a:p>
            <a:r>
              <a:rPr lang="en-US" dirty="0"/>
              <a:t>We run this experiment at least two times for different scale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0E986-C939-CD0E-F697-1650A2A5D5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3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D0296-AF9B-0698-752C-F852006A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74C2-5DD8-4879-D0D4-27123DEA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Scale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57334-8DE8-2896-64E9-5ACE97470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could compare: 5 and 7, 5 and 9</a:t>
            </a:r>
          </a:p>
          <a:p>
            <a:r>
              <a:rPr lang="en-US" dirty="0"/>
              <a:t>Different scale from ITU-T P.910 standard</a:t>
            </a:r>
          </a:p>
          <a:p>
            <a:r>
              <a:rPr lang="en-US" dirty="0"/>
              <a:t>5 points scale with different labels</a:t>
            </a:r>
          </a:p>
          <a:p>
            <a:r>
              <a:rPr lang="en-US" dirty="0"/>
              <a:t>Classic ACR with some pictures, psychological scales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BF7A-FE30-3D8C-B6F3-09CB9AEC8E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4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D501-FC3B-3D7F-D916-A59F252C4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6F98-B376-618F-347E-67C0B9F9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94900-121B-94D4-5773-A8833ED8F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two experiments with the same sequences. </a:t>
            </a:r>
          </a:p>
          <a:p>
            <a:r>
              <a:rPr lang="en-US" dirty="0"/>
              <a:t>Distortions are simple like compression for different sequences </a:t>
            </a:r>
          </a:p>
          <a:p>
            <a:r>
              <a:rPr lang="en-US" dirty="0"/>
              <a:t>We add option – I do not know to the scale or repeating the same sequence again</a:t>
            </a:r>
          </a:p>
          <a:p>
            <a:r>
              <a:rPr lang="en-US" dirty="0"/>
              <a:t>This calls for a longer experiment, the effect is week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B313C-5421-CC4B-C99F-47FFEFFAAC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15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B9C5-A8B7-EA72-A923-C42368A23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879AE-E808-8AF6-3E62-32311C210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CE250-004A-6946-B9CB-6D81B6B89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Classic Experiments</a:t>
            </a:r>
          </a:p>
          <a:p>
            <a:r>
              <a:rPr lang="en-GB" dirty="0"/>
              <a:t>Interfaces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Display Technology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HDR/SDR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Behaviour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Interaction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2ADA1-CF5B-1ED0-7B63-F93256D10C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8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F587E-F77F-F3F0-A72F-EE939F9C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3B6A-137A-C481-0792-D69790104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BE837-13B8-B1DF-539A-2F1550D31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sort sequences from best to worst </a:t>
            </a:r>
          </a:p>
          <a:p>
            <a:r>
              <a:rPr lang="en-US" dirty="0"/>
              <a:t>I am not sure if such interface is available</a:t>
            </a:r>
          </a:p>
          <a:p>
            <a:r>
              <a:rPr lang="en-US" dirty="0"/>
              <a:t>We can score quality in continuous way by a slider or something like that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F94A6-04C8-914B-645B-82B41FB27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9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9532-36CE-B673-B05C-30EFC81D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5F3E-2CFE-E082-DC15-B3468032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BE21-1A36-4087-A85C-DFA58782B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Classic Experiments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Interfaces </a:t>
            </a:r>
          </a:p>
          <a:p>
            <a:r>
              <a:rPr lang="en-GB" dirty="0"/>
              <a:t>Display Technology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HDR/SDR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Behaviour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Interaction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FA74E-0FCC-666A-EB84-F4746C77E3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52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ED9B-548D-7D73-446B-938B1E40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CF5E-4C6E-6B41-FCE1-BAE05318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D820-18F6-B0BC-2FD3-83A9DBB34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– mobile/tablet/PC/TV</a:t>
            </a:r>
          </a:p>
          <a:p>
            <a:r>
              <a:rPr lang="en-US" dirty="0"/>
              <a:t>The same devices but different display settings </a:t>
            </a:r>
          </a:p>
          <a:p>
            <a:r>
              <a:rPr lang="en-US" dirty="0"/>
              <a:t>The same type of device but different displays – we try to get similar settings</a:t>
            </a:r>
          </a:p>
          <a:p>
            <a:r>
              <a:rPr lang="en-US" dirty="0"/>
              <a:t>Different devices and different settings – but natural, as users have them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E46F8-C173-C3AF-EBC0-EC94C0EA6D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5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E8C2E-347C-657F-9735-AF96E985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274D-0AB5-D274-F413-6D4488EC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A76B0-43B0-8BFC-CADE-178052D74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Classic Experiments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Interfaces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Display Technology</a:t>
            </a:r>
          </a:p>
          <a:p>
            <a:r>
              <a:rPr lang="en-GB" dirty="0"/>
              <a:t>HDR/SDR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Behaviour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Interaction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8F14E-AE5B-9FC5-AFF0-019734314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1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7A4E-82E6-8612-ACA2-FDD828FA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4FB1-5730-BA4D-5F80-C27D130D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A40EC-5633-FCCB-8117-FF75FD2DF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HDR content</a:t>
            </a:r>
          </a:p>
          <a:p>
            <a:r>
              <a:rPr lang="en-US" dirty="0"/>
              <a:t>HDR transformed to SRD</a:t>
            </a:r>
          </a:p>
          <a:p>
            <a:r>
              <a:rPr lang="en-US" dirty="0"/>
              <a:t>Both HDR and SRD in one test</a:t>
            </a:r>
          </a:p>
          <a:p>
            <a:r>
              <a:rPr lang="en-US" dirty="0"/>
              <a:t>Different levels of HDR – especially the influence of the fast change in brightness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56B7-5F5E-862A-75A9-BF7AFCC6E9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99CCA-9A7B-EE37-D788-3ABFAEFA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4053-EBAD-92DD-6E4A-46307D63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81C00-731C-499F-B062-B0EA83CF0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Classic Experiments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Interfaces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Display Technology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HDR/SDR</a:t>
            </a:r>
          </a:p>
          <a:p>
            <a:r>
              <a:rPr lang="en-GB" dirty="0"/>
              <a:t>Behaviour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Interaction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FCC45-6755-FBFE-2B35-B16221A6AA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3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2F3B-219A-7300-6BA9-9F3F41E7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970D-01B0-8BB1-DA7E-A7DD447D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E65C6-F880-94A1-F32E-B23B68D38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idea – we do not ask about anything, especially quality</a:t>
            </a:r>
          </a:p>
          <a:p>
            <a:r>
              <a:rPr lang="en-US" dirty="0"/>
              <a:t>We make it possible to decide</a:t>
            </a:r>
          </a:p>
          <a:p>
            <a:r>
              <a:rPr lang="en-US" dirty="0"/>
              <a:t>Based on decision we try to predict quality</a:t>
            </a:r>
          </a:p>
          <a:p>
            <a:r>
              <a:rPr lang="en-US" dirty="0"/>
              <a:t>Example – swapping videos like shorts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FE2B9-D759-6485-1320-E248A1616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8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57C65-F118-A085-F4D6-77C46D48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DF7D-EB94-7DA7-935E-D7543194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3C3F8-D492-8C89-D93F-53150E0B2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Classic Experiments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Interfaces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Display Technology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HDR/SDR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Behaviour</a:t>
            </a:r>
            <a:r>
              <a:rPr lang="en-GB" dirty="0"/>
              <a:t> </a:t>
            </a:r>
          </a:p>
          <a:p>
            <a:r>
              <a:rPr lang="en-GB" dirty="0"/>
              <a:t>Interaction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0B5C-5736-705B-B2FF-8B3A971A29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74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15F7-7432-B0F0-C1C0-68594F7F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04DF-608D-B741-778E-F4424939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- Teleconference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FDFBB-20B9-D589-30D5-DE5F56B5F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quality for a teleconferencing system</a:t>
            </a:r>
          </a:p>
          <a:p>
            <a:r>
              <a:rPr lang="en-US" dirty="0"/>
              <a:t>We can start from simple 2D, no real interaction </a:t>
            </a:r>
          </a:p>
          <a:p>
            <a:r>
              <a:rPr lang="en-US" dirty="0"/>
              <a:t>Idea is to measure quality for interactive content so we can make the interaction possible</a:t>
            </a:r>
          </a:p>
          <a:p>
            <a:r>
              <a:rPr lang="en-US" dirty="0"/>
              <a:t>We have to be careful not to brake interaction by asking about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75CDF-02E7-DF44-C328-C87F30A9C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79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A56E-021A-8668-F100-5048725E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E556-20E7-E352-34A5-FDA70960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– Screen Sharing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FCA46-F1B4-0917-C42A-71162C698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we can start from simple compression – just content is different </a:t>
            </a:r>
          </a:p>
          <a:p>
            <a:r>
              <a:rPr lang="en-US" dirty="0"/>
              <a:t>Real interaction with specific distortions</a:t>
            </a:r>
          </a:p>
          <a:p>
            <a:r>
              <a:rPr lang="en-US" dirty="0"/>
              <a:t>We need a task + procedure not to kill interaction and still get some results about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B5822-205D-43C9-D212-F0FEE53740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67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B97D-DFB0-BEFA-F314-BDBA66B7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4EC3-3A39-A036-5029-92CF86B1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– 3D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8E9EA-37A0-D12A-CFCB-B127A87B3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time we are in 3D world </a:t>
            </a:r>
          </a:p>
          <a:p>
            <a:r>
              <a:rPr lang="en-US" dirty="0"/>
              <a:t>Interaction by moving some objects</a:t>
            </a:r>
          </a:p>
          <a:p>
            <a:r>
              <a:rPr lang="en-US" dirty="0"/>
              <a:t>Here we need some </a:t>
            </a:r>
            <a:r>
              <a:rPr lang="en-US" dirty="0" err="1"/>
              <a:t>gogles</a:t>
            </a:r>
            <a:r>
              <a:rPr lang="en-US" dirty="0"/>
              <a:t> to make the interaction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E05F4-70A9-2363-8E6A-31F816703A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74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F753-F31E-A3C2-2154-B622C908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33C2-E0DC-0397-07A7-68CA3078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72E2D-D797-B250-64B4-18B07BEAF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Classic Experiments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Interfaces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Display Technology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HDR/SDR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Behaviour </a:t>
            </a:r>
          </a:p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Interaction</a:t>
            </a:r>
          </a:p>
          <a:p>
            <a:r>
              <a:rPr lang="en-GB" dirty="0"/>
              <a:t>Real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F17EC-18C5-FACD-2C23-843CD45AFD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BDC7-C03D-ACE0-3E79-51F4040E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BDD4-126D-EED3-77A5-64189E61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Distort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BDCC9-E113-33B6-9146-B2F2B31CA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service of your choice – it can be no video service – like WWW</a:t>
            </a:r>
          </a:p>
          <a:p>
            <a:r>
              <a:rPr lang="en-US" dirty="0"/>
              <a:t>Distort the network. We count on natural reactions of the service </a:t>
            </a:r>
          </a:p>
          <a:p>
            <a:r>
              <a:rPr lang="en-US" dirty="0"/>
              <a:t>We need a cleaver scenario so people can interact and answer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69FF9-E4A1-6C26-8B78-6F16EE8CAC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64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A324-6E51-8AA3-CBE6-4EE2D4640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929E-D14B-9562-92F6-F8B2E61E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E3757-24F1-75E6-FE4A-26598B368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need a topic</a:t>
            </a:r>
          </a:p>
          <a:p>
            <a:r>
              <a:rPr lang="en-US" dirty="0"/>
              <a:t>You need </a:t>
            </a:r>
            <a:r>
              <a:rPr lang="en-US"/>
              <a:t>a plan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873E6-0138-3A7B-3277-04847F1CA0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2889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3597</TotalTime>
  <Words>707</Words>
  <Application>Microsoft Macintosh PowerPoint</Application>
  <PresentationFormat>Custom</PresentationFormat>
  <Paragraphs>161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Helvetica Neue</vt:lpstr>
      <vt:lpstr>Blank Presentation - Default</vt:lpstr>
      <vt:lpstr>Blank Presentation</vt:lpstr>
      <vt:lpstr>PowerPoint Presentation</vt:lpstr>
      <vt:lpstr>Your Ideas</vt:lpstr>
      <vt:lpstr>Presentation Outline</vt:lpstr>
      <vt:lpstr>Presentation Outline</vt:lpstr>
      <vt:lpstr>Bitrate </vt:lpstr>
      <vt:lpstr>Comparing Codecs </vt:lpstr>
      <vt:lpstr>No Reference E, h Test</vt:lpstr>
      <vt:lpstr>Different Scale</vt:lpstr>
      <vt:lpstr>Different Scale II</vt:lpstr>
      <vt:lpstr>More Options</vt:lpstr>
      <vt:lpstr>Presentation Outline</vt:lpstr>
      <vt:lpstr>Experiment Design</vt:lpstr>
      <vt:lpstr>Presentation Outline</vt:lpstr>
      <vt:lpstr>Displays</vt:lpstr>
      <vt:lpstr>Presentation Outline</vt:lpstr>
      <vt:lpstr>HDR</vt:lpstr>
      <vt:lpstr>Presentation Outline</vt:lpstr>
      <vt:lpstr>Behavior </vt:lpstr>
      <vt:lpstr>Presentation Outline</vt:lpstr>
      <vt:lpstr>Interaction - Teleconference </vt:lpstr>
      <vt:lpstr>Interaction – Screen Sharing </vt:lpstr>
      <vt:lpstr>Interaction – 3D</vt:lpstr>
      <vt:lpstr>Presentation Outline</vt:lpstr>
      <vt:lpstr>Distort Network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Mikołaj Leszczuk</dc:creator>
  <cp:lastModifiedBy>Lucjan Janowski</cp:lastModifiedBy>
  <cp:revision>36</cp:revision>
  <dcterms:created xsi:type="dcterms:W3CDTF">2020-10-25T19:11:37Z</dcterms:created>
  <dcterms:modified xsi:type="dcterms:W3CDTF">2025-11-14T23:23:44Z</dcterms:modified>
</cp:coreProperties>
</file>