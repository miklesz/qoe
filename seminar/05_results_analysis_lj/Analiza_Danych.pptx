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03" r:id="rId1"/>
    <p:sldMasterId id="2147483704" r:id="rId2"/>
  </p:sldMasterIdLst>
  <p:notesMasterIdLst>
    <p:notesMasterId r:id="rId30"/>
  </p:notesMasterIdLst>
  <p:sldIdLst>
    <p:sldId id="256" r:id="rId3"/>
    <p:sldId id="305" r:id="rId4"/>
    <p:sldId id="318" r:id="rId5"/>
    <p:sldId id="259" r:id="rId6"/>
    <p:sldId id="307" r:id="rId7"/>
    <p:sldId id="308" r:id="rId8"/>
    <p:sldId id="309" r:id="rId9"/>
    <p:sldId id="310" r:id="rId10"/>
    <p:sldId id="320" r:id="rId11"/>
    <p:sldId id="319" r:id="rId12"/>
    <p:sldId id="312" r:id="rId13"/>
    <p:sldId id="313" r:id="rId14"/>
    <p:sldId id="314" r:id="rId15"/>
    <p:sldId id="315" r:id="rId16"/>
    <p:sldId id="321" r:id="rId17"/>
    <p:sldId id="322" r:id="rId18"/>
    <p:sldId id="316" r:id="rId19"/>
    <p:sldId id="323" r:id="rId20"/>
    <p:sldId id="325" r:id="rId21"/>
    <p:sldId id="324" r:id="rId22"/>
    <p:sldId id="326" r:id="rId23"/>
    <p:sldId id="327" r:id="rId24"/>
    <p:sldId id="328" r:id="rId25"/>
    <p:sldId id="331" r:id="rId26"/>
    <p:sldId id="329" r:id="rId27"/>
    <p:sldId id="330" r:id="rId28"/>
    <p:sldId id="332" r:id="rId29"/>
  </p:sldIdLst>
  <p:sldSz cx="10680700" cy="7556500"/>
  <p:notesSz cx="6858000" cy="9144000"/>
  <p:embeddedFontLst>
    <p:embeddedFont>
      <p:font typeface="Helvetica Neue" panose="02000503000000020004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27"/>
    <p:restoredTop sz="94838"/>
  </p:normalViewPr>
  <p:slideViewPr>
    <p:cSldViewPr snapToGrid="0" snapToObjects="1">
      <p:cViewPr varScale="1">
        <p:scale>
          <a:sx n="96" d="100"/>
          <a:sy n="96" d="100"/>
        </p:scale>
        <p:origin x="9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what we are doing on a daily basis.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say multimedia here, but we mainly work with videos (usually w/o sound). Such a limitation of context necessary because we are dealing with a difficult problem.</a:t>
            </a:r>
            <a:endParaRPr dirty="0"/>
          </a:p>
        </p:txBody>
      </p:sp>
      <p:sp>
        <p:nvSpPr>
          <p:cNvPr id="260" name="Google Shape;2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461f3ea385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It is nice to reference such forecasts in an introduction section of your thesis (if it is related with multimedia).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Larger volume &amp; larger demand begs for better quality (and also is a result of better quality being used).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This is a 4 fold growth in the plot on the right.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EB = exabytes = 1 million TB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are much more forecasts so do not hesitate to take a look on your own.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461f3ea38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525" cy="263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525" cy="182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35013" y="2011363"/>
            <a:ext cx="9210675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262" cy="314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262" cy="165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735013" y="2011363"/>
            <a:ext cx="4529137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5416550" y="2011363"/>
            <a:ext cx="4529138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262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612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612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5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5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 rot="5400000">
            <a:off x="2943226" y="-196849"/>
            <a:ext cx="4794250" cy="921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 rot="5400000">
            <a:off x="5592763" y="2452688"/>
            <a:ext cx="6403975" cy="230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 rot="5400000">
            <a:off x="911226" y="225425"/>
            <a:ext cx="6403975" cy="6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62" cy="453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525" cy="263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525" cy="182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262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612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612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5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5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 rot="5400000">
            <a:off x="3074987" y="-88899"/>
            <a:ext cx="4538663" cy="908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 rot="5400000">
            <a:off x="5726113" y="2562225"/>
            <a:ext cx="6051550" cy="227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 rot="5400000">
            <a:off x="1107282" y="365920"/>
            <a:ext cx="6051550" cy="666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2.jp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62" cy="453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/>
          <p:nvPr/>
        </p:nvSpPr>
        <p:spPr>
          <a:xfrm>
            <a:off x="1905000" y="3657600"/>
            <a:ext cx="87757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Subjective Experiment Data Analysis</a:t>
            </a:r>
            <a:endParaRPr lang="en-US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u="sng" noProof="0" dirty="0"/>
            </a:br>
            <a:r>
              <a:rPr lang="en-US" sz="2400" noProof="0" dirty="0"/>
              <a:t>Lucjan Janowski</a:t>
            </a:r>
            <a:endParaRPr lang="en-US" sz="2400" b="0" i="0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1"/>
          <p:cNvSpPr/>
          <p:nvPr/>
        </p:nvSpPr>
        <p:spPr>
          <a:xfrm>
            <a:off x="1905000" y="6477000"/>
            <a:ext cx="2677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u="none" strike="noStrike" cap="none" dirty="0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3100" y="7162546"/>
            <a:ext cx="1117600" cy="3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37-8805-6576-6BD8-339B77F2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20024-9E44-9C6A-033A-B89EB7F47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 description</a:t>
            </a:r>
          </a:p>
          <a:p>
            <a:r>
              <a:rPr lang="en-GB" dirty="0"/>
              <a:t>Reading data</a:t>
            </a:r>
          </a:p>
          <a:p>
            <a:r>
              <a:rPr lang="en-GB" dirty="0"/>
              <a:t>Subjective score model</a:t>
            </a:r>
          </a:p>
          <a:p>
            <a:r>
              <a:rPr lang="en-GB" dirty="0"/>
              <a:t>Cleaning data</a:t>
            </a:r>
          </a:p>
          <a:p>
            <a:r>
              <a:rPr lang="en-GB" dirty="0"/>
              <a:t>Predicting quality</a:t>
            </a:r>
          </a:p>
          <a:p>
            <a:r>
              <a:rPr lang="en-GB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395F7-A8B8-91DB-F1E3-108484BCF4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6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4775-7AFA-98F6-C7C3-EBCEC045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315B-B249-D7B3-3087-651E6AD5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EC6A0-7C84-272D-838D-35194FE13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 description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Reading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Subjective score model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Cleaning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Predicting quality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8B0E1-9F1F-9FA1-4CCA-65C939A5C1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9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4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4"/>
          <p:cNvSpPr txBox="1"/>
          <p:nvPr/>
        </p:nvSpPr>
        <p:spPr>
          <a:xfrm>
            <a:off x="797738" y="352988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/>
              <a:t>   Type of Data</a:t>
            </a:r>
            <a:endParaRPr sz="5000" b="1" dirty="0"/>
          </a:p>
        </p:txBody>
      </p:sp>
      <p:sp>
        <p:nvSpPr>
          <p:cNvPr id="288" name="Google Shape;288;p64"/>
          <p:cNvSpPr txBox="1"/>
          <p:nvPr/>
        </p:nvSpPr>
        <p:spPr>
          <a:xfrm>
            <a:off x="902888" y="1748550"/>
            <a:ext cx="44655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90525" marR="0" lvl="0" indent="-39560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»"/>
            </a:pPr>
            <a:r>
              <a:rPr lang="en-US" sz="2600" noProof="0" dirty="0">
                <a:solidFill>
                  <a:srgbClr val="1E1E1E"/>
                </a:solidFill>
              </a:rPr>
              <a:t>Nominal</a:t>
            </a:r>
          </a:p>
          <a:p>
            <a:pPr marL="390525" marR="0" lvl="0" indent="-39560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»"/>
            </a:pPr>
            <a:r>
              <a:rPr lang="en-US" sz="2600" noProof="0" dirty="0">
                <a:solidFill>
                  <a:srgbClr val="1E1E1E"/>
                </a:solidFill>
              </a:rPr>
              <a:t>Numeric </a:t>
            </a:r>
          </a:p>
          <a:p>
            <a:pPr marL="390525" marR="0" lvl="0" indent="-39560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»"/>
            </a:pPr>
            <a:r>
              <a:rPr lang="en-US" sz="2600" noProof="0" dirty="0">
                <a:solidFill>
                  <a:srgbClr val="1E1E1E"/>
                </a:solidFill>
              </a:rPr>
              <a:t>Ordinal</a:t>
            </a:r>
          </a:p>
        </p:txBody>
      </p:sp>
      <p:pic>
        <p:nvPicPr>
          <p:cNvPr id="4" name="Graphic 3" descr="Family with boy outline">
            <a:extLst>
              <a:ext uri="{FF2B5EF4-FFF2-40B4-BE49-F238E27FC236}">
                <a16:creationId xmlns:a16="http://schemas.microsoft.com/office/drawing/2014/main" id="{500E74E3-50E2-BEFF-631A-3873892FB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0064" y="1320075"/>
            <a:ext cx="1791970" cy="1791970"/>
          </a:xfrm>
          <a:prstGeom prst="rect">
            <a:avLst/>
          </a:prstGeom>
        </p:spPr>
      </p:pic>
      <p:pic>
        <p:nvPicPr>
          <p:cNvPr id="8" name="Graphic 7" descr="Alterations &amp; Tailoring outline">
            <a:extLst>
              <a:ext uri="{FF2B5EF4-FFF2-40B4-BE49-F238E27FC236}">
                <a16:creationId xmlns:a16="http://schemas.microsoft.com/office/drawing/2014/main" id="{931FA6D8-46D7-932F-EACE-94888037F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1566" y="3046729"/>
            <a:ext cx="1707061" cy="1707061"/>
          </a:xfrm>
          <a:prstGeom prst="rect">
            <a:avLst/>
          </a:prstGeom>
        </p:spPr>
      </p:pic>
      <p:pic>
        <p:nvPicPr>
          <p:cNvPr id="10" name="Graphic 9" descr="Backpack with solid fill">
            <a:extLst>
              <a:ext uri="{FF2B5EF4-FFF2-40B4-BE49-F238E27FC236}">
                <a16:creationId xmlns:a16="http://schemas.microsoft.com/office/drawing/2014/main" id="{729DCFAC-519E-10CC-1F71-7AD749B919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38967" y="4895124"/>
            <a:ext cx="1791970" cy="1791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BE0E-D730-D068-ED25-6F89E603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1C20-3EA2-DF40-9AF3-F2FAA55B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calculate fractions - how often specific value appears </a:t>
            </a:r>
          </a:p>
          <a:p>
            <a:r>
              <a:rPr lang="en-US" dirty="0"/>
              <a:t>We can find mode – the most common value </a:t>
            </a:r>
          </a:p>
          <a:p>
            <a:r>
              <a:rPr lang="en-US" dirty="0"/>
              <a:t>We divide a set to specific parts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1F34D-1DEA-BFF0-9C1F-B32E5D087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Graphic 5" descr="Anemone and clownfish outline">
            <a:extLst>
              <a:ext uri="{FF2B5EF4-FFF2-40B4-BE49-F238E27FC236}">
                <a16:creationId xmlns:a16="http://schemas.microsoft.com/office/drawing/2014/main" id="{4D7D8115-9FB3-5781-4D05-072636EEA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110" y="5892801"/>
            <a:ext cx="914400" cy="914400"/>
          </a:xfrm>
          <a:prstGeom prst="rect">
            <a:avLst/>
          </a:prstGeom>
        </p:spPr>
      </p:pic>
      <p:pic>
        <p:nvPicPr>
          <p:cNvPr id="8" name="Picture 7" descr="Hands holding a globe with flags&#10;&#10;AI-generated content may be incorrect.">
            <a:extLst>
              <a:ext uri="{FF2B5EF4-FFF2-40B4-BE49-F238E27FC236}">
                <a16:creationId xmlns:a16="http://schemas.microsoft.com/office/drawing/2014/main" id="{A598DF6A-C980-7788-BDC3-13E4C5AF0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287" y="5414963"/>
            <a:ext cx="2032000" cy="1308100"/>
          </a:xfrm>
          <a:prstGeom prst="rect">
            <a:avLst/>
          </a:prstGeom>
        </p:spPr>
      </p:pic>
      <p:pic>
        <p:nvPicPr>
          <p:cNvPr id="10" name="Picture 9" descr="Close-up of a server room&#10;&#10;AI-generated content may be incorrect.">
            <a:extLst>
              <a:ext uri="{FF2B5EF4-FFF2-40B4-BE49-F238E27FC236}">
                <a16:creationId xmlns:a16="http://schemas.microsoft.com/office/drawing/2014/main" id="{AD7868BC-24AA-8E4F-0CEB-6858901BF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886" y="5870575"/>
            <a:ext cx="2032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5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BF71-391E-1F98-F427-87C76FD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rgbClr val="1E1E1E"/>
                </a:solidFill>
              </a:rPr>
              <a:t>Numeric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03177-99E5-BE60-464C-A4BF3D4AE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Fractions without aggregation does not make sense</a:t>
            </a:r>
          </a:p>
          <a:p>
            <a:r>
              <a:rPr lang="en-US" dirty="0"/>
              <a:t>We can do any numerical operations </a:t>
            </a:r>
          </a:p>
          <a:p>
            <a:r>
              <a:rPr lang="en-US" dirty="0"/>
              <a:t>Often use mean, standard deviation </a:t>
            </a:r>
          </a:p>
          <a:p>
            <a:r>
              <a:rPr lang="en-US" dirty="0"/>
              <a:t>Quantiles are very useful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BD991-EF3C-2216-E61C-F90F84B24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A close-up of a thermometer&#10;&#10;AI-generated content may be incorrect.">
            <a:extLst>
              <a:ext uri="{FF2B5EF4-FFF2-40B4-BE49-F238E27FC236}">
                <a16:creationId xmlns:a16="http://schemas.microsoft.com/office/drawing/2014/main" id="{316A027B-5F23-0175-9315-75D4B9797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5707856"/>
            <a:ext cx="2032000" cy="1346200"/>
          </a:xfrm>
          <a:prstGeom prst="rect">
            <a:avLst/>
          </a:prstGeom>
        </p:spPr>
      </p:pic>
      <p:pic>
        <p:nvPicPr>
          <p:cNvPr id="9" name="Picture 8" descr="A hand holding a stopwatch&#10;&#10;AI-generated content may be incorrect.">
            <a:extLst>
              <a:ext uri="{FF2B5EF4-FFF2-40B4-BE49-F238E27FC236}">
                <a16:creationId xmlns:a16="http://schemas.microsoft.com/office/drawing/2014/main" id="{352FAF77-006B-A7A2-74EE-CF9134A81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627" y="5588084"/>
            <a:ext cx="2382339" cy="1585744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F1A0B3E-37F0-93CA-3E76-4F18F0C6F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624" y="5399941"/>
            <a:ext cx="1653518" cy="93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4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1AE5-1B4B-6BB4-2BFB-39914E14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432CB-C96A-A927-F75D-1160496AD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with an order</a:t>
            </a:r>
          </a:p>
          <a:p>
            <a:r>
              <a:rPr lang="en-US" dirty="0"/>
              <a:t>Often, they are analyzed bit like numerical bit like nominal</a:t>
            </a:r>
          </a:p>
          <a:p>
            <a:r>
              <a:rPr lang="en-US" dirty="0"/>
              <a:t>Formally they should be analyzed differently </a:t>
            </a:r>
          </a:p>
          <a:p>
            <a:r>
              <a:rPr lang="en-US" dirty="0"/>
              <a:t>We are using ordinal scoring data as numeric data aggregated to discrete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809A-27C7-CEFF-236C-951DFBBAA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group of people throwing graduation caps in the air&#10;&#10;AI-generated content may be incorrect.">
            <a:extLst>
              <a:ext uri="{FF2B5EF4-FFF2-40B4-BE49-F238E27FC236}">
                <a16:creationId xmlns:a16="http://schemas.microsoft.com/office/drawing/2014/main" id="{4EF1DF24-A3BF-283A-E19B-200C6C7F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52" y="1119187"/>
            <a:ext cx="3700803" cy="1480321"/>
          </a:xfrm>
          <a:prstGeom prst="rect">
            <a:avLst/>
          </a:prstGeom>
        </p:spPr>
      </p:pic>
      <p:pic>
        <p:nvPicPr>
          <p:cNvPr id="8" name="Picture 7" descr="A hand drawing a survey&#10;&#10;AI-generated content may be incorrect.">
            <a:extLst>
              <a:ext uri="{FF2B5EF4-FFF2-40B4-BE49-F238E27FC236}">
                <a16:creationId xmlns:a16="http://schemas.microsoft.com/office/drawing/2014/main" id="{8784F187-969E-E097-BFF7-6AF72D86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999" y="5610497"/>
            <a:ext cx="1789464" cy="1196704"/>
          </a:xfrm>
          <a:prstGeom prst="rect">
            <a:avLst/>
          </a:prstGeom>
        </p:spPr>
      </p:pic>
      <p:pic>
        <p:nvPicPr>
          <p:cNvPr id="10" name="Picture 9" descr="A group of toy cars on a dirt surface&#10;&#10;AI-generated content may be incorrect.">
            <a:extLst>
              <a:ext uri="{FF2B5EF4-FFF2-40B4-BE49-F238E27FC236}">
                <a16:creationId xmlns:a16="http://schemas.microsoft.com/office/drawing/2014/main" id="{06F22351-223C-838B-4E8F-940D1706E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023" y="2730137"/>
            <a:ext cx="2323937" cy="153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3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E7C7-8BCC-B645-D987-D4F100C1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272F9-9E1D-B646-2EF7-18FB58F70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variables which are mixed – they have more than one nature </a:t>
            </a:r>
          </a:p>
          <a:p>
            <a:r>
              <a:rPr lang="en-US" dirty="0"/>
              <a:t>For example: length of telephone call including not answering -&gt; 0</a:t>
            </a:r>
          </a:p>
          <a:p>
            <a:r>
              <a:rPr lang="en-US" dirty="0"/>
              <a:t>Analysis is trickier but can be done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29F75-49CE-208A-E94E-4A04E0D996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Close-up of several test tubes&#10;&#10;AI-generated content may be incorrect.">
            <a:extLst>
              <a:ext uri="{FF2B5EF4-FFF2-40B4-BE49-F238E27FC236}">
                <a16:creationId xmlns:a16="http://schemas.microsoft.com/office/drawing/2014/main" id="{F80E9793-E778-3F20-C330-EDA65A02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55" y="5545138"/>
            <a:ext cx="2032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5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0C59-0ACF-2A3C-76ED-8D0CB1C1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316EA-7B7F-2332-D7BE-A539B28B1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31413-28C2-2CE4-7911-0016D03DC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4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15DA-2382-8562-D71E-3949C48C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9978-9B06-2EF7-934B-595637A7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F03A-A2A0-240A-B18F-9EC0A916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Data description</a:t>
            </a:r>
          </a:p>
          <a:p>
            <a:r>
              <a:rPr lang="en-GB" dirty="0"/>
              <a:t>Reading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Subjective score model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Cleaning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Predicting quality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DA9F1-31D9-B7F6-91CA-B32EA75E3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7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AD6D-6F61-1BDE-7776-88650C79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0" y="671513"/>
            <a:ext cx="8417379" cy="1260475"/>
          </a:xfrm>
        </p:spPr>
        <p:txBody>
          <a:bodyPr/>
          <a:lstStyle/>
          <a:p>
            <a:r>
              <a:rPr lang="en-US" dirty="0"/>
              <a:t>You Need To Plan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FB491-791F-AABE-E1C6-A7CC7DBD1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Picture_land_340x320_34.mp4</a:t>
            </a:r>
          </a:p>
          <a:p>
            <a:r>
              <a:rPr lang="en-US" dirty="0"/>
              <a:t>Picture_580x240_2.mp4</a:t>
            </a:r>
          </a:p>
          <a:p>
            <a:r>
              <a:rPr lang="en-US" dirty="0"/>
              <a:t>Picture_800x560_3.5.mp4</a:t>
            </a:r>
          </a:p>
          <a:p>
            <a:r>
              <a:rPr lang="en-US" dirty="0" err="1"/>
              <a:t>Picture_land_SRC.yuv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93AA5-2B13-F1D5-ADF0-422FEF0174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A close-up of a bed&#10;&#10;AI-generated content may be incorrect.">
            <a:extLst>
              <a:ext uri="{FF2B5EF4-FFF2-40B4-BE49-F238E27FC236}">
                <a16:creationId xmlns:a16="http://schemas.microsoft.com/office/drawing/2014/main" id="{81782BA3-12C0-845B-EE26-D05892D9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78" y="5145495"/>
            <a:ext cx="2744969" cy="1829979"/>
          </a:xfrm>
          <a:prstGeom prst="rect">
            <a:avLst/>
          </a:prstGeom>
        </p:spPr>
      </p:pic>
      <p:pic>
        <p:nvPicPr>
          <p:cNvPr id="8" name="Picture 7" descr="A bed with pillows and a picture above it&#10;&#10;AI-generated content may be incorrect.">
            <a:extLst>
              <a:ext uri="{FF2B5EF4-FFF2-40B4-BE49-F238E27FC236}">
                <a16:creationId xmlns:a16="http://schemas.microsoft.com/office/drawing/2014/main" id="{8F5E582D-2E0F-B209-A50D-EC5290FC1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738" y="3349896"/>
            <a:ext cx="1996369" cy="133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7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C266-53E3-AC6E-8E79-5D247B1E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All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F5E07-5C8A-EEE7-9A4B-9F3895674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– obvious</a:t>
            </a:r>
          </a:p>
          <a:p>
            <a:r>
              <a:rPr lang="en-US" dirty="0"/>
              <a:t>For which sequence – obvious, but what does it mean specific sequence?</a:t>
            </a:r>
          </a:p>
          <a:p>
            <a:r>
              <a:rPr lang="en-US" dirty="0"/>
              <a:t>Answer time – often missed</a:t>
            </a:r>
          </a:p>
          <a:p>
            <a:r>
              <a:rPr lang="en-US" dirty="0"/>
              <a:t>Information about a tester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7F2F7-3D8D-D98B-3212-19E38D36D6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03D76F9E-84B0-2534-9CEC-A89E6E0B5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0447" y="4013382"/>
            <a:ext cx="2413544" cy="241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54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810B-7312-8829-3E99-B84AA5594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Tidy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ED87-7F06-A5AD-9149-76DC427A9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A82C-A022-6D99-0D3B-A3D373C054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C3D3F-5B29-D99F-6ACE-41114AD76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92099"/>
              </p:ext>
            </p:extLst>
          </p:nvPr>
        </p:nvGraphicFramePr>
        <p:xfrm>
          <a:off x="1772708" y="3181310"/>
          <a:ext cx="7135284" cy="322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821">
                  <a:extLst>
                    <a:ext uri="{9D8B030D-6E8A-4147-A177-3AD203B41FA5}">
                      <a16:colId xmlns:a16="http://schemas.microsoft.com/office/drawing/2014/main" val="214525782"/>
                    </a:ext>
                  </a:extLst>
                </a:gridCol>
                <a:gridCol w="1783821">
                  <a:extLst>
                    <a:ext uri="{9D8B030D-6E8A-4147-A177-3AD203B41FA5}">
                      <a16:colId xmlns:a16="http://schemas.microsoft.com/office/drawing/2014/main" val="1271308800"/>
                    </a:ext>
                  </a:extLst>
                </a:gridCol>
                <a:gridCol w="1783821">
                  <a:extLst>
                    <a:ext uri="{9D8B030D-6E8A-4147-A177-3AD203B41FA5}">
                      <a16:colId xmlns:a16="http://schemas.microsoft.com/office/drawing/2014/main" val="967244296"/>
                    </a:ext>
                  </a:extLst>
                </a:gridCol>
                <a:gridCol w="1783821">
                  <a:extLst>
                    <a:ext uri="{9D8B030D-6E8A-4147-A177-3AD203B41FA5}">
                      <a16:colId xmlns:a16="http://schemas.microsoft.com/office/drawing/2014/main" val="2311246401"/>
                    </a:ext>
                  </a:extLst>
                </a:gridCol>
              </a:tblGrid>
              <a:tr h="5376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647509"/>
                  </a:ext>
                </a:extLst>
              </a:tr>
              <a:tr h="537670">
                <a:tc>
                  <a:txBody>
                    <a:bodyPr/>
                    <a:lstStyle/>
                    <a:p>
                      <a:r>
                        <a:rPr lang="en-US" dirty="0"/>
                        <a:t>Measurement1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219108"/>
                  </a:ext>
                </a:extLst>
              </a:tr>
              <a:tr h="537670">
                <a:tc>
                  <a:txBody>
                    <a:bodyPr/>
                    <a:lstStyle/>
                    <a:p>
                      <a:r>
                        <a:rPr lang="en-US" dirty="0"/>
                        <a:t>Measurement2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945109"/>
                  </a:ext>
                </a:extLst>
              </a:tr>
              <a:tr h="537670">
                <a:tc>
                  <a:txBody>
                    <a:bodyPr/>
                    <a:lstStyle/>
                    <a:p>
                      <a:r>
                        <a:rPr lang="en-US" dirty="0"/>
                        <a:t>Measurement3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76345"/>
                  </a:ext>
                </a:extLst>
              </a:tr>
              <a:tr h="537670">
                <a:tc>
                  <a:txBody>
                    <a:bodyPr/>
                    <a:lstStyle/>
                    <a:p>
                      <a:r>
                        <a:rPr lang="en-US" dirty="0"/>
                        <a:t>Measurement4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562710"/>
                  </a:ext>
                </a:extLst>
              </a:tr>
              <a:tr h="537670">
                <a:tc>
                  <a:txBody>
                    <a:bodyPr/>
                    <a:lstStyle/>
                    <a:p>
                      <a:r>
                        <a:rPr lang="en-US" dirty="0"/>
                        <a:t>Measurement5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38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14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6BBB-B458-D0CF-4794-756E7E10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26247-8E97-C628-4BDA-325D20B18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688" y="2184400"/>
            <a:ext cx="3339238" cy="4538663"/>
          </a:xfrm>
        </p:spPr>
        <p:txBody>
          <a:bodyPr/>
          <a:lstStyle/>
          <a:p>
            <a:r>
              <a:rPr lang="en-US" sz="2000" dirty="0"/>
              <a:t>Variables:</a:t>
            </a:r>
          </a:p>
          <a:p>
            <a:pPr lvl="1"/>
            <a:r>
              <a:rPr lang="en-US" sz="2000" dirty="0"/>
              <a:t>User id</a:t>
            </a:r>
          </a:p>
          <a:p>
            <a:pPr lvl="1"/>
            <a:r>
              <a:rPr lang="en-US" sz="2000" dirty="0"/>
              <a:t>SRC</a:t>
            </a:r>
          </a:p>
          <a:p>
            <a:pPr lvl="1"/>
            <a:r>
              <a:rPr lang="en-US" sz="2000" dirty="0"/>
              <a:t>Resolution </a:t>
            </a:r>
          </a:p>
          <a:p>
            <a:pPr lvl="1"/>
            <a:r>
              <a:rPr lang="en-US" sz="2000" dirty="0"/>
              <a:t>Bitrate/QP/CRF</a:t>
            </a:r>
          </a:p>
          <a:p>
            <a:pPr lvl="1"/>
            <a:r>
              <a:rPr lang="en-US" sz="2000" dirty="0"/>
              <a:t>Type of Codec</a:t>
            </a:r>
          </a:p>
          <a:p>
            <a:pPr lvl="1"/>
            <a:r>
              <a:rPr lang="en-US" sz="2000" dirty="0"/>
              <a:t>Score</a:t>
            </a:r>
          </a:p>
          <a:p>
            <a:pPr lvl="1"/>
            <a:r>
              <a:rPr lang="en-US" sz="2000" dirty="0"/>
              <a:t>Answer time</a:t>
            </a:r>
          </a:p>
          <a:p>
            <a:pPr lvl="1"/>
            <a:r>
              <a:rPr lang="en-US" sz="2000" dirty="0"/>
              <a:t>Metrics values</a:t>
            </a:r>
          </a:p>
          <a:p>
            <a:pPr lvl="1"/>
            <a:r>
              <a:rPr lang="en-US" sz="2000" dirty="0"/>
              <a:t>Device type </a:t>
            </a:r>
          </a:p>
          <a:p>
            <a:pPr lvl="1"/>
            <a:r>
              <a:rPr lang="en-US" sz="2000" dirty="0"/>
              <a:t>Conditions</a:t>
            </a:r>
          </a:p>
          <a:p>
            <a:pPr lvl="1"/>
            <a:r>
              <a:rPr lang="en-US" sz="2000" dirty="0"/>
              <a:t>…</a:t>
            </a:r>
          </a:p>
          <a:p>
            <a:pPr lvl="1"/>
            <a:endParaRPr lang="en-US" sz="1800" dirty="0"/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E3CBD-8E37-F9C3-B88B-AA3E34A17C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1A83BF-1188-18C3-6434-5EC8F01AE185}"/>
              </a:ext>
            </a:extLst>
          </p:cNvPr>
          <p:cNvSpPr txBox="1">
            <a:spLocks/>
          </p:cNvSpPr>
          <p:nvPr/>
        </p:nvSpPr>
        <p:spPr>
          <a:xfrm>
            <a:off x="5558745" y="2184400"/>
            <a:ext cx="3339238" cy="453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Measurements:</a:t>
            </a:r>
          </a:p>
          <a:p>
            <a:pPr lvl="1"/>
            <a:r>
              <a:rPr lang="en-US" sz="2000" dirty="0"/>
              <a:t>Single answer</a:t>
            </a:r>
            <a:endParaRPr lang="en-US" sz="18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9562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45ED-C0C0-8961-49FE-A379B150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101FA-D2FA-5135-34E9-BD4FC2FAC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334B-FDA0-494D-2F59-006ED8EBBB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86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64B5-9711-874E-8455-830B17E7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BD8A-E537-5AB8-AD49-AEB6D12CB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^(?P&lt;SRC&gt;[^_]+)_(?P&lt;</a:t>
            </a:r>
            <a:r>
              <a:rPr lang="en-GB" dirty="0" err="1"/>
              <a:t>resw</a:t>
            </a:r>
            <a:r>
              <a:rPr lang="en-GB" dirty="0"/>
              <a:t>&gt;\d+)x(?P&lt;resh&gt;\d+)_(?P&lt;bitrate&gt;\d+)M$</a:t>
            </a:r>
          </a:p>
          <a:p>
            <a:r>
              <a:rPr lang="en-GB" dirty="0"/>
              <a:t>^ - start of string </a:t>
            </a:r>
          </a:p>
          <a:p>
            <a:r>
              <a:rPr lang="en-GB" dirty="0"/>
              <a:t>?P&lt;SRC&gt; - name of column</a:t>
            </a:r>
          </a:p>
          <a:p>
            <a:r>
              <a:rPr lang="en-GB" dirty="0"/>
              <a:t>[^_] – look for _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[^_]</a:t>
            </a:r>
            <a:r>
              <a:rPr lang="en-GB" dirty="0"/>
              <a:t>+ - any number of characters</a:t>
            </a:r>
          </a:p>
          <a:p>
            <a:r>
              <a:rPr lang="en-US" dirty="0"/>
              <a:t>\d – digits</a:t>
            </a:r>
          </a:p>
          <a:p>
            <a:r>
              <a:rPr lang="en-US" dirty="0"/>
              <a:t>$ - end of string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BCE11-01D0-3A2F-2A5C-BC7B4D7161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7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0DCD2-E5C7-946C-3AFD-CBA13DC6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560C-16A2-AB2E-1FB3-D4B03F0B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5D1BC-6F97-B25E-A967-EEDDC7021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Data description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Reading data</a:t>
            </a:r>
          </a:p>
          <a:p>
            <a:r>
              <a:rPr lang="en-GB" dirty="0"/>
              <a:t>Subjective score model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Cleaning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Predicting quality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6D0E8-9EB9-FB99-6ADA-CD35F89DC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74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6A38-6807-E116-3D34-03182DB3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Score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CAB13-D5CF-6F83-53FD-5786F64A0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9203-D8BB-0F39-2AC1-1A913547F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C8C283-71ED-D7A2-3FF5-5F3A1F8D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85" y="3778250"/>
            <a:ext cx="8782321" cy="54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AC32-C024-1395-BBE5-039C3477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9E20-D1A4-0CB6-DC99-33AA18DB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3F543-606D-A87E-FBCD-204E72003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Data description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Reading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Subjective score model</a:t>
            </a:r>
          </a:p>
          <a:p>
            <a:r>
              <a:rPr lang="en-GB" dirty="0"/>
              <a:t>Cleaning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Predicting quality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5D52D-41C9-5172-0361-E343A2BCCB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96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7097-6B68-2326-5A13-690332CEB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0C3FF-99D5-405B-67B1-273645813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Tester with low correlation is suspicious </a:t>
            </a:r>
          </a:p>
          <a:p>
            <a:r>
              <a:rPr lang="en-US" dirty="0"/>
              <a:t>We can use subject model – it weights the influence of a subject</a:t>
            </a:r>
          </a:p>
          <a:p>
            <a:r>
              <a:rPr lang="en-US" dirty="0"/>
              <a:t>Standard ITU-T P.910 calls for removing subjects with correlation lower than 0.75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A393D-8EF5-EAFF-6218-FC22D8D00A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4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4214-BFE0-F2D0-EF85-DD04F4F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DFE75-1FDE-C4F2-69F2-A421FCB1F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A5449-E891-1A0D-0904-2A61E27975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66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71E7-AD25-66B5-EE0E-E5894C76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EBF6-A372-5340-7DB0-68DF3DCE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061BE-E41C-7AA7-D428-5BA49DDD2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Data description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Reading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Subjective score model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Cleaning data</a:t>
            </a:r>
          </a:p>
          <a:p>
            <a:r>
              <a:rPr lang="en-GB" dirty="0"/>
              <a:t>Predicting quality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F0669-680B-0BE1-0B4D-4C2460B932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19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A2F3-640E-7323-3F3F-68E7ED65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6AC7A-2AC0-733F-DD77-27FE36196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from subjective scores – done</a:t>
            </a:r>
          </a:p>
          <a:p>
            <a:r>
              <a:rPr lang="en-US" dirty="0"/>
              <a:t>Predicting from sequences – using metrics</a:t>
            </a:r>
          </a:p>
          <a:p>
            <a:r>
              <a:rPr lang="en-US" dirty="0"/>
              <a:t>Predicting from sequences – developing metric</a:t>
            </a:r>
          </a:p>
          <a:p>
            <a:r>
              <a:rPr lang="en-US" dirty="0"/>
              <a:t>Considering different factors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DE10-6B6B-65BF-0290-E1E76C282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01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40F7-889C-4905-C66A-0326510E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0BB44-4786-27F1-7C56-2F1142502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Subjective experiments can answer question which system is better</a:t>
            </a:r>
          </a:p>
          <a:p>
            <a:r>
              <a:rPr lang="en-US" dirty="0"/>
              <a:t>We would like to test if codec/solution/algorithm A is better than B</a:t>
            </a:r>
          </a:p>
          <a:p>
            <a:r>
              <a:rPr lang="en-US" dirty="0"/>
              <a:t>Only final math is changed; the principle is the same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D09A8-8D3C-0F47-FA4C-2135BF31B8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48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1BED-65DE-716E-9022-9C87B870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417A-8ED7-AC4F-46C1-52E1C637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5BF97-BE3A-CA68-E7FC-99ABEE319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Data description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Reading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Subjective score model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Cleaning data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Predicting quality</a:t>
            </a:r>
          </a:p>
          <a:p>
            <a:r>
              <a:rPr lang="en-GB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D47FA-1F99-5E88-4145-C318B8D5DE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75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22E1-B98F-9E56-CDA4-C6195B3E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11C44-C8C2-F939-DF41-87004A71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should prepare an experiment, so it is easy to analyze</a:t>
            </a:r>
          </a:p>
          <a:p>
            <a:r>
              <a:rPr lang="en-US" dirty="0"/>
              <a:t>We should collect as much data as possible</a:t>
            </a:r>
          </a:p>
          <a:p>
            <a:r>
              <a:rPr lang="en-US" dirty="0"/>
              <a:t>Data analysis goes in two directions:</a:t>
            </a:r>
          </a:p>
          <a:p>
            <a:pPr lvl="1"/>
            <a:r>
              <a:rPr lang="en-US" dirty="0"/>
              <a:t>MOS, after cleaning data</a:t>
            </a:r>
          </a:p>
          <a:p>
            <a:pPr lvl="1"/>
            <a:r>
              <a:rPr lang="en-US" dirty="0"/>
              <a:t>Metrics analysis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EB00-A904-AD36-3798-AEE57C797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13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45AE-28C1-5948-DE56-E6258886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B1234-4246-8CF0-8D23-7A12D38B5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your experiment</a:t>
            </a:r>
          </a:p>
          <a:p>
            <a:r>
              <a:rPr lang="en-US" dirty="0"/>
              <a:t>Present </a:t>
            </a:r>
            <a:r>
              <a:rPr lang="en-US"/>
              <a:t>the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FABB2-E69A-F8DA-0F17-8865CDCE7D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6919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687</Words>
  <Application>Microsoft Macintosh PowerPoint</Application>
  <PresentationFormat>Custom</PresentationFormat>
  <Paragraphs>179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Helvetica Neue</vt:lpstr>
      <vt:lpstr>Blank Presentation - Default</vt:lpstr>
      <vt:lpstr>Blank Presentation</vt:lpstr>
      <vt:lpstr>PowerPoint Presentation</vt:lpstr>
      <vt:lpstr>Presentation Outline</vt:lpstr>
      <vt:lpstr>Presentation Outline</vt:lpstr>
      <vt:lpstr>PowerPoint Presentation</vt:lpstr>
      <vt:lpstr>Nominal</vt:lpstr>
      <vt:lpstr>Numeric</vt:lpstr>
      <vt:lpstr>Ordinal</vt:lpstr>
      <vt:lpstr>Mixed Variables</vt:lpstr>
      <vt:lpstr>Code</vt:lpstr>
      <vt:lpstr>Presentation Outline</vt:lpstr>
      <vt:lpstr>You Need To Plan </vt:lpstr>
      <vt:lpstr>Save All Information</vt:lpstr>
      <vt:lpstr>Tidy Data </vt:lpstr>
      <vt:lpstr>Typical Data</vt:lpstr>
      <vt:lpstr>Code</vt:lpstr>
      <vt:lpstr>Regular Expression</vt:lpstr>
      <vt:lpstr>Presentation Outline</vt:lpstr>
      <vt:lpstr>Subject Score Model</vt:lpstr>
      <vt:lpstr>Presentation Outline</vt:lpstr>
      <vt:lpstr>Correlation</vt:lpstr>
      <vt:lpstr>Code</vt:lpstr>
      <vt:lpstr>Presentation Outline</vt:lpstr>
      <vt:lpstr>Quality Prediction</vt:lpstr>
      <vt:lpstr>Comparing Solutions</vt:lpstr>
      <vt:lpstr>Presentation Outline</vt:lpstr>
      <vt:lpstr>Summary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Mikołaj Leszczuk</dc:creator>
  <cp:lastModifiedBy>Lucjan Janowski</cp:lastModifiedBy>
  <cp:revision>26</cp:revision>
  <dcterms:created xsi:type="dcterms:W3CDTF">2020-10-25T19:11:37Z</dcterms:created>
  <dcterms:modified xsi:type="dcterms:W3CDTF">2025-11-02T11:14:51Z</dcterms:modified>
</cp:coreProperties>
</file>